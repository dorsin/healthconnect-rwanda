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59FF4A2-68C1-480E-8F2E-C113B38D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669DDA4-954F-4289-BC76-C13DF64B3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B3E8E8-DEB0-4D7F-81E1-6E9E25C9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BC09DD-AADA-4050-BA71-A9994F6FA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D46CD91-2C34-4468-A7C9-A7776105A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CE27953-5FCD-451E-B61B-C0CDEFBA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6BC0AD6-3DF2-4DEF-B117-D13408885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D01B58D-2B57-4C89-B94A-D66D5F3DE0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E02A64B-E842-47A9-BE6D-51638E4E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696C300-36CD-45B4-834C-180080A2C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81BA23D-2D07-4567-93C1-CAC114407719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0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100" b="1" dirty="0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ANALYSTLAB AFRICA  |  DATA SCIENCE INTERNSHIP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FFBD07-CB19-4785-81C1-3A84A09D8D54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6572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31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3150" b="1" dirty="0" err="1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HealthConnect</a:t>
            </a:r>
            <a:r>
              <a:rPr sz="3150" b="1" dirty="0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Rwanda: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E8BA52-5486-4C3F-BD98-66320C28B9AB}"/>
              </a:ext>
            </a:extLst>
          </p:cNvPr>
          <p:cNvSpPr>
            <a:spLocks noGrp="1"/>
          </p:cNvSpPr>
          <p:nvPr/>
        </p:nvSpPr>
        <p:spPr>
          <a:xfrm>
            <a:off x="457200" y="1504950"/>
            <a:ext cx="666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3300" b="1" dirty="0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Healthcare Analytics</a:t>
            </a:r>
          </a:p>
          <a:p>
            <a:pPr algn="l">
              <a:defRPr sz="33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3300" b="1" dirty="0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and Decision Support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479A5B-318C-461C-A612-7C12A0F63F99}"/>
              </a:ext>
            </a:extLst>
          </p:cNvPr>
          <p:cNvSpPr>
            <a:spLocks noGrp="1"/>
          </p:cNvSpPr>
          <p:nvPr/>
        </p:nvSpPr>
        <p:spPr>
          <a:xfrm>
            <a:off x="457200" y="2800350"/>
            <a:ext cx="3429000" cy="38100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3C4F9D-516C-4260-BDF9-0DDD426EC9CE}"/>
              </a:ext>
            </a:extLst>
          </p:cNvPr>
          <p:cNvSpPr>
            <a:spLocks noGrp="1"/>
          </p:cNvSpPr>
          <p:nvPr/>
        </p:nvSpPr>
        <p:spPr>
          <a:xfrm>
            <a:off x="457200" y="3067050"/>
            <a:ext cx="6238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 dirty="0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Integrated data quality review, exploratory analysis, statistical testing, forecasting, and clustering.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D64CBD-A28B-43D2-B2A9-24CB76750531}"/>
              </a:ext>
            </a:extLst>
          </p:cNvPr>
          <p:cNvSpPr>
            <a:spLocks noGrp="1"/>
          </p:cNvSpPr>
          <p:nvPr/>
        </p:nvSpPr>
        <p:spPr>
          <a:xfrm>
            <a:off x="457200" y="495300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650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1" dirty="0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Dorian NJAMI</a:t>
            </a:r>
            <a:r>
              <a:rPr lang="fr-FR" sz="1650" b="1" dirty="0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800" b="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Certified Data Scientist</a:t>
            </a:r>
            <a:endParaRPr sz="1650" b="0" dirty="0">
              <a:solidFill>
                <a:srgbClr val="252B2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ACDE17-9225-49A6-9FE0-15FAAA6D3DC3}"/>
              </a:ext>
            </a:extLst>
          </p:cNvPr>
          <p:cNvSpPr>
            <a:spLocks noGrp="1"/>
          </p:cNvSpPr>
          <p:nvPr/>
        </p:nvSpPr>
        <p:spPr>
          <a:xfrm>
            <a:off x="457200" y="53340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Week 6 project  |  October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7CF407-0D01-4C62-A840-1DCBFBCBDAFD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5F7F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885C7D-1306-4F27-A77F-612124AEC887}"/>
              </a:ext>
            </a:extLst>
          </p:cNvPr>
          <p:cNvSpPr>
            <a:spLocks noGrp="1"/>
          </p:cNvSpPr>
          <p:nvPr/>
        </p:nvSpPr>
        <p:spPr>
          <a:xfrm>
            <a:off x="7667625" y="1447800"/>
            <a:ext cx="1809750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F5DA37-C967-4825-BD38-D77552C91EB2}"/>
              </a:ext>
            </a:extLst>
          </p:cNvPr>
          <p:cNvSpPr>
            <a:spLocks noGrp="1"/>
          </p:cNvSpPr>
          <p:nvPr/>
        </p:nvSpPr>
        <p:spPr>
          <a:xfrm>
            <a:off x="7800975" y="1562100"/>
            <a:ext cx="1543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5,000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07FCC2-4D8F-44BD-A26F-E65A1AD9DB1D}"/>
              </a:ext>
            </a:extLst>
          </p:cNvPr>
          <p:cNvSpPr>
            <a:spLocks noGrp="1"/>
          </p:cNvSpPr>
          <p:nvPr/>
        </p:nvSpPr>
        <p:spPr>
          <a:xfrm>
            <a:off x="7781925" y="19526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 dirty="0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Appointments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95275B-0DF3-4BEE-89C0-249626961ECB}"/>
              </a:ext>
            </a:extLst>
          </p:cNvPr>
          <p:cNvSpPr>
            <a:spLocks noGrp="1"/>
          </p:cNvSpPr>
          <p:nvPr/>
        </p:nvSpPr>
        <p:spPr>
          <a:xfrm>
            <a:off x="7781925" y="2276475"/>
            <a:ext cx="15811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One-year source extract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ACB3E4-A345-4B28-8B83-29623B269857}"/>
              </a:ext>
            </a:extLst>
          </p:cNvPr>
          <p:cNvSpPr>
            <a:spLocks noGrp="1"/>
          </p:cNvSpPr>
          <p:nvPr/>
        </p:nvSpPr>
        <p:spPr>
          <a:xfrm>
            <a:off x="9715500" y="1447800"/>
            <a:ext cx="1809750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846078-FF84-474C-913F-3FA4ACA816EA}"/>
              </a:ext>
            </a:extLst>
          </p:cNvPr>
          <p:cNvSpPr>
            <a:spLocks noGrp="1"/>
          </p:cNvSpPr>
          <p:nvPr/>
        </p:nvSpPr>
        <p:spPr>
          <a:xfrm>
            <a:off x="9848850" y="1562100"/>
            <a:ext cx="1543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4,443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B50CEF-FDAF-46CE-A61F-1FFD424EFB18}"/>
              </a:ext>
            </a:extLst>
          </p:cNvPr>
          <p:cNvSpPr>
            <a:spLocks noGrp="1"/>
          </p:cNvSpPr>
          <p:nvPr/>
        </p:nvSpPr>
        <p:spPr>
          <a:xfrm>
            <a:off x="9829800" y="19526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Patients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5712F5-9F6A-4C33-B22A-377957D5517C}"/>
              </a:ext>
            </a:extLst>
          </p:cNvPr>
          <p:cNvSpPr>
            <a:spLocks noGrp="1"/>
          </p:cNvSpPr>
          <p:nvPr/>
        </p:nvSpPr>
        <p:spPr>
          <a:xfrm>
            <a:off x="9829800" y="2276475"/>
            <a:ext cx="15811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Distinct patient IDs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844AE-2E6D-46A9-A684-F4203F79EDF6}"/>
              </a:ext>
            </a:extLst>
          </p:cNvPr>
          <p:cNvSpPr>
            <a:spLocks noGrp="1"/>
          </p:cNvSpPr>
          <p:nvPr/>
        </p:nvSpPr>
        <p:spPr>
          <a:xfrm>
            <a:off x="7667625" y="3000375"/>
            <a:ext cx="1809750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E18A73-ECB9-4591-A55A-2909C3BC6A6D}"/>
              </a:ext>
            </a:extLst>
          </p:cNvPr>
          <p:cNvSpPr>
            <a:spLocks noGrp="1"/>
          </p:cNvSpPr>
          <p:nvPr/>
        </p:nvSpPr>
        <p:spPr>
          <a:xfrm>
            <a:off x="7800975" y="3114675"/>
            <a:ext cx="1543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73E03F-A12F-482B-BC09-B78C26B9BE15}"/>
              </a:ext>
            </a:extLst>
          </p:cNvPr>
          <p:cNvSpPr>
            <a:spLocks noGrp="1"/>
          </p:cNvSpPr>
          <p:nvPr/>
        </p:nvSpPr>
        <p:spPr>
          <a:xfrm>
            <a:off x="7781925" y="3505200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Source tables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D94CB0-AAC8-49DB-8CD0-F23AEE6C7B8A}"/>
              </a:ext>
            </a:extLst>
          </p:cNvPr>
          <p:cNvSpPr>
            <a:spLocks noGrp="1"/>
          </p:cNvSpPr>
          <p:nvPr/>
        </p:nvSpPr>
        <p:spPr>
          <a:xfrm>
            <a:off x="7781925" y="3829050"/>
            <a:ext cx="15811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Relational source files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9CE015-3D68-467F-B7D6-D67FB022807A}"/>
              </a:ext>
            </a:extLst>
          </p:cNvPr>
          <p:cNvSpPr>
            <a:spLocks noGrp="1"/>
          </p:cNvSpPr>
          <p:nvPr/>
        </p:nvSpPr>
        <p:spPr>
          <a:xfrm>
            <a:off x="9715500" y="3000375"/>
            <a:ext cx="1809750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ED162F-75B6-435D-8E2B-9584969B718A}"/>
              </a:ext>
            </a:extLst>
          </p:cNvPr>
          <p:cNvSpPr>
            <a:spLocks noGrp="1"/>
          </p:cNvSpPr>
          <p:nvPr/>
        </p:nvSpPr>
        <p:spPr>
          <a:xfrm>
            <a:off x="9848850" y="3114675"/>
            <a:ext cx="1543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D6B199-F1B5-40CF-BADA-7309369D8DC6}"/>
              </a:ext>
            </a:extLst>
          </p:cNvPr>
          <p:cNvSpPr>
            <a:spLocks noGrp="1"/>
          </p:cNvSpPr>
          <p:nvPr/>
        </p:nvSpPr>
        <p:spPr>
          <a:xfrm>
            <a:off x="9829800" y="3505200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Visuals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6EC6BF-5A25-42C5-A2D9-7F01B7975147}"/>
              </a:ext>
            </a:extLst>
          </p:cNvPr>
          <p:cNvSpPr>
            <a:spLocks noGrp="1"/>
          </p:cNvSpPr>
          <p:nvPr/>
        </p:nvSpPr>
        <p:spPr>
          <a:xfrm>
            <a:off x="9829800" y="3829050"/>
            <a:ext cx="15811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Numbered notebook charts</a:t>
            </a:r>
          </a:p>
        </p:txBody>
      </p:sp>
    </p:spTree>
    <p:extLst>
      <p:ext uri="{BB962C8B-B14F-4D97-AF65-F5344CB8AC3E}">
        <p14:creationId xmlns:p14="http://schemas.microsoft.com/office/powerpoint/2010/main" val="2013845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945146D-AC7C-4106-A277-CC4441316E70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1" dirty="0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CC6862-E036-42FB-A16C-E5DC7EA15ECE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Executive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08D415-6244-4D76-9DE0-D5604361B544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36B1EA-E34C-418D-9D92-7597D9DA6EDF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DC758-A73D-484B-8F47-9AE85378A330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0" dirty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Dorian NJAMI  |  </a:t>
            </a:r>
            <a:r>
              <a:rPr sz="1000" b="0" dirty="0" err="1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AnalystLab</a:t>
            </a:r>
            <a:r>
              <a:rPr sz="1000" b="0" dirty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F37023-84DB-43A0-A340-9C54EB2A5213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6992B4-E1E6-412D-A539-9BB32CFCC5C3}"/>
              </a:ext>
            </a:extLst>
          </p:cNvPr>
          <p:cNvSpPr>
            <a:spLocks noGrp="1"/>
          </p:cNvSpPr>
          <p:nvPr/>
        </p:nvSpPr>
        <p:spPr>
          <a:xfrm>
            <a:off x="457200" y="1409700"/>
            <a:ext cx="1123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5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analysis combines 30 source tables into an appointment-level dataset and evaluates where the records can support decisions today.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71E793-E4A3-4A3F-AC09-12E7CC62DEF2}"/>
              </a:ext>
            </a:extLst>
          </p:cNvPr>
          <p:cNvSpPr>
            <a:spLocks noGrp="1"/>
          </p:cNvSpPr>
          <p:nvPr/>
        </p:nvSpPr>
        <p:spPr>
          <a:xfrm>
            <a:off x="457200" y="2238375"/>
            <a:ext cx="2571750" cy="13811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772FB8-F9C3-49A6-958D-39D45616D2CE}"/>
              </a:ext>
            </a:extLst>
          </p:cNvPr>
          <p:cNvSpPr>
            <a:spLocks noGrp="1"/>
          </p:cNvSpPr>
          <p:nvPr/>
        </p:nvSpPr>
        <p:spPr>
          <a:xfrm>
            <a:off x="590550" y="235267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94.9%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D15494-330D-4141-841D-08F42234BD0A}"/>
              </a:ext>
            </a:extLst>
          </p:cNvPr>
          <p:cNvSpPr>
            <a:spLocks noGrp="1"/>
          </p:cNvSpPr>
          <p:nvPr/>
        </p:nvSpPr>
        <p:spPr>
          <a:xfrm>
            <a:off x="571500" y="2743200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Location mismatch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CBFFB7-58E9-4866-921D-46495B789760}"/>
              </a:ext>
            </a:extLst>
          </p:cNvPr>
          <p:cNvSpPr>
            <a:spLocks noGrp="1"/>
          </p:cNvSpPr>
          <p:nvPr/>
        </p:nvSpPr>
        <p:spPr>
          <a:xfrm>
            <a:off x="571500" y="3067050"/>
            <a:ext cx="2343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4,744 of 5,000 appointments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57512-7A7A-4C5C-8F85-42D6DCC2B01F}"/>
              </a:ext>
            </a:extLst>
          </p:cNvPr>
          <p:cNvSpPr>
            <a:spLocks noGrp="1"/>
          </p:cNvSpPr>
          <p:nvPr/>
        </p:nvSpPr>
        <p:spPr>
          <a:xfrm>
            <a:off x="3276600" y="2238375"/>
            <a:ext cx="2571750" cy="13811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450072-8E2F-4497-9136-0E8D7BD5EF4E}"/>
              </a:ext>
            </a:extLst>
          </p:cNvPr>
          <p:cNvSpPr>
            <a:spLocks noGrp="1"/>
          </p:cNvSpPr>
          <p:nvPr/>
        </p:nvSpPr>
        <p:spPr>
          <a:xfrm>
            <a:off x="3409950" y="235267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25.5%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071340-8335-4D5C-89BA-A8EB254C6FCB}"/>
              </a:ext>
            </a:extLst>
          </p:cNvPr>
          <p:cNvSpPr>
            <a:spLocks noGrp="1"/>
          </p:cNvSpPr>
          <p:nvPr/>
        </p:nvSpPr>
        <p:spPr>
          <a:xfrm>
            <a:off x="3390900" y="2743200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Chronic history unknown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EEE80C-5C50-4327-96E7-9CD9D5B8B052}"/>
              </a:ext>
            </a:extLst>
          </p:cNvPr>
          <p:cNvSpPr>
            <a:spLocks noGrp="1"/>
          </p:cNvSpPr>
          <p:nvPr/>
        </p:nvSpPr>
        <p:spPr>
          <a:xfrm>
            <a:off x="3390900" y="3067050"/>
            <a:ext cx="2343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1,131 of 4,443 patients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F7CB03-E23F-4C17-8BA4-2A90D1F15C4E}"/>
              </a:ext>
            </a:extLst>
          </p:cNvPr>
          <p:cNvSpPr>
            <a:spLocks noGrp="1"/>
          </p:cNvSpPr>
          <p:nvPr/>
        </p:nvSpPr>
        <p:spPr>
          <a:xfrm>
            <a:off x="6096000" y="2238375"/>
            <a:ext cx="2571750" cy="13811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57798E-250B-4A19-9754-B6FCA89AA3CF}"/>
              </a:ext>
            </a:extLst>
          </p:cNvPr>
          <p:cNvSpPr>
            <a:spLocks noGrp="1"/>
          </p:cNvSpPr>
          <p:nvPr/>
        </p:nvSpPr>
        <p:spPr>
          <a:xfrm>
            <a:off x="6229350" y="235267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2.93 / 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848975-63A2-4D97-A045-8CF45805A1C0}"/>
              </a:ext>
            </a:extLst>
          </p:cNvPr>
          <p:cNvSpPr>
            <a:spLocks noGrp="1"/>
          </p:cNvSpPr>
          <p:nvPr/>
        </p:nvSpPr>
        <p:spPr>
          <a:xfrm>
            <a:off x="6210300" y="2743200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Mean satisfaction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B3D6D2-6EBA-4AC6-ADB7-A74F898A0946}"/>
              </a:ext>
            </a:extLst>
          </p:cNvPr>
          <p:cNvSpPr>
            <a:spLocks noGrp="1"/>
          </p:cNvSpPr>
          <p:nvPr/>
        </p:nvSpPr>
        <p:spPr>
          <a:xfrm>
            <a:off x="6210300" y="3067050"/>
            <a:ext cx="2343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1,756 rated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1BB721-E359-417B-8DB5-08A80DFA8678}"/>
              </a:ext>
            </a:extLst>
          </p:cNvPr>
          <p:cNvSpPr>
            <a:spLocks noGrp="1"/>
          </p:cNvSpPr>
          <p:nvPr/>
        </p:nvSpPr>
        <p:spPr>
          <a:xfrm>
            <a:off x="8915400" y="2238375"/>
            <a:ext cx="2571750" cy="13811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F3E45-8A59-4B0C-8955-205464194EA6}"/>
              </a:ext>
            </a:extLst>
          </p:cNvPr>
          <p:cNvSpPr>
            <a:spLocks noGrp="1"/>
          </p:cNvSpPr>
          <p:nvPr/>
        </p:nvSpPr>
        <p:spPr>
          <a:xfrm>
            <a:off x="9048750" y="235267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0.916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235717-D7F0-4A6F-81E4-684532972870}"/>
              </a:ext>
            </a:extLst>
          </p:cNvPr>
          <p:cNvSpPr>
            <a:spLocks noGrp="1"/>
          </p:cNvSpPr>
          <p:nvPr/>
        </p:nvSpPr>
        <p:spPr>
          <a:xfrm>
            <a:off x="9029700" y="2743200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Receipts vs. volume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7F1124-73F0-4B23-89BF-23152AC98818}"/>
              </a:ext>
            </a:extLst>
          </p:cNvPr>
          <p:cNvSpPr>
            <a:spLocks noGrp="1"/>
          </p:cNvSpPr>
          <p:nvPr/>
        </p:nvSpPr>
        <p:spPr>
          <a:xfrm>
            <a:off x="9029700" y="3067050"/>
            <a:ext cx="2343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Monthly Spearman correlation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F35ADB-74C6-4225-9F97-4E32BFF8EDD6}"/>
              </a:ext>
            </a:extLst>
          </p:cNvPr>
          <p:cNvSpPr>
            <a:spLocks noGrp="1"/>
          </p:cNvSpPr>
          <p:nvPr/>
        </p:nvSpPr>
        <p:spPr>
          <a:xfrm>
            <a:off x="457200" y="4048125"/>
            <a:ext cx="11029950" cy="914400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0C78ED-3E1B-47FC-8D9A-C22F03B4B034}"/>
              </a:ext>
            </a:extLst>
          </p:cNvPr>
          <p:cNvSpPr>
            <a:spLocks noGrp="1"/>
          </p:cNvSpPr>
          <p:nvPr/>
        </p:nvSpPr>
        <p:spPr>
          <a:xfrm>
            <a:off x="628650" y="4124325"/>
            <a:ext cx="106870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dataset is structurally clean, but key mappings and financial status fields still need reconciliation.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1D2758-51DB-4110-B789-159EC5A77965}"/>
              </a:ext>
            </a:extLst>
          </p:cNvPr>
          <p:cNvSpPr>
            <a:spLocks noGrp="1"/>
          </p:cNvSpPr>
          <p:nvPr/>
        </p:nvSpPr>
        <p:spPr>
          <a:xfrm>
            <a:off x="457200" y="5219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B2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Models were exploratory. Admission and satisfaction classifiers did not reach useful holdout performance, and the annual forecasts rely on only twelve monthly observations.</a:t>
            </a:r>
          </a:p>
        </p:txBody>
      </p:sp>
    </p:spTree>
    <p:extLst>
      <p:ext uri="{BB962C8B-B14F-4D97-AF65-F5344CB8AC3E}">
        <p14:creationId xmlns:p14="http://schemas.microsoft.com/office/powerpoint/2010/main" val="9573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6631872-950A-4F9A-B97A-A8298F178359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7EE365-6C54-4B4D-B6FA-5894D626DC08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Data integration and quality controls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B8DEF3-531D-42AD-89F3-711541131EC1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99BA83-07E1-4C27-87CA-17F7F2F7B309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6344D-F31B-4CD3-9912-B09D3E8F36FE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Dorian NJAMI  |  </a:t>
            </a:r>
            <a:r>
              <a:rPr sz="1000" b="0" dirty="0" err="1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AnalystLab</a:t>
            </a: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B68DA1-55BA-47C8-9464-E23E00938BB7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9C7D3-6BA7-4E5F-AE1E-02E0FE1B99D6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3143250" cy="161925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8AE3CC-A4A5-4CBA-8C35-E0A467DDA436}"/>
              </a:ext>
            </a:extLst>
          </p:cNvPr>
          <p:cNvSpPr>
            <a:spLocks noGrp="1"/>
          </p:cNvSpPr>
          <p:nvPr/>
        </p:nvSpPr>
        <p:spPr>
          <a:xfrm>
            <a:off x="628650" y="192405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30 SOURCE TABLES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6D6639-DA5F-4580-A3D9-6D828E5B4F76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2724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 dirty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Patient, appointment, clinical, financial, operational, and feedback data.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3C3802-D641-4609-ACC2-B372C939EAC4}"/>
              </a:ext>
            </a:extLst>
          </p:cNvPr>
          <p:cNvSpPr>
            <a:spLocks noGrp="1"/>
          </p:cNvSpPr>
          <p:nvPr/>
        </p:nvSpPr>
        <p:spPr>
          <a:xfrm>
            <a:off x="4286250" y="1714500"/>
            <a:ext cx="3143250" cy="161925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D8FA2B-DE76-4BF6-9D28-77695BC7D541}"/>
              </a:ext>
            </a:extLst>
          </p:cNvPr>
          <p:cNvSpPr>
            <a:spLocks noGrp="1"/>
          </p:cNvSpPr>
          <p:nvPr/>
        </p:nvSpPr>
        <p:spPr>
          <a:xfrm>
            <a:off x="4457700" y="192405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APPOINTMENT MASTER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D1F36E-50E1-4B74-B664-EF1392C8ACBE}"/>
              </a:ext>
            </a:extLst>
          </p:cNvPr>
          <p:cNvSpPr>
            <a:spLocks noGrp="1"/>
          </p:cNvSpPr>
          <p:nvPr/>
        </p:nvSpPr>
        <p:spPr>
          <a:xfrm>
            <a:off x="4495800" y="2362200"/>
            <a:ext cx="2724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5,000 unique appointments linked with patient and service attributes.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524F76-364A-48C6-9227-7C2A2C2D238A}"/>
              </a:ext>
            </a:extLst>
          </p:cNvPr>
          <p:cNvSpPr>
            <a:spLocks noGrp="1"/>
          </p:cNvSpPr>
          <p:nvPr/>
        </p:nvSpPr>
        <p:spPr>
          <a:xfrm>
            <a:off x="8115300" y="1714500"/>
            <a:ext cx="3143250" cy="161925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846E40-3B2A-4392-90A0-1B49A21E1241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VALIDATION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DDB5B3-B172-4F47-85D2-8E90235B61AE}"/>
              </a:ext>
            </a:extLst>
          </p:cNvPr>
          <p:cNvSpPr>
            <a:spLocks noGrp="1"/>
          </p:cNvSpPr>
          <p:nvPr/>
        </p:nvSpPr>
        <p:spPr>
          <a:xfrm>
            <a:off x="8324850" y="2362200"/>
            <a:ext cx="2724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Key uniqueness, completeness, domain checks, and referential review.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D87213-49A2-44D0-86C1-E5F8C137490D}"/>
              </a:ext>
            </a:extLst>
          </p:cNvPr>
          <p:cNvSpPr>
            <a:spLocks noGrp="1"/>
          </p:cNvSpPr>
          <p:nvPr/>
        </p:nvSpPr>
        <p:spPr>
          <a:xfrm>
            <a:off x="3638550" y="2286000"/>
            <a:ext cx="4953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1408D4-2F8B-4C02-95BA-2EB78B6EF7EA}"/>
              </a:ext>
            </a:extLst>
          </p:cNvPr>
          <p:cNvSpPr>
            <a:spLocks noGrp="1"/>
          </p:cNvSpPr>
          <p:nvPr/>
        </p:nvSpPr>
        <p:spPr>
          <a:xfrm>
            <a:off x="7467600" y="2286000"/>
            <a:ext cx="4953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7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C5F47A-EEE8-4CAF-BA38-D46CB353E6CB}"/>
              </a:ext>
            </a:extLst>
          </p:cNvPr>
          <p:cNvSpPr>
            <a:spLocks noGrp="1"/>
          </p:cNvSpPr>
          <p:nvPr/>
        </p:nvSpPr>
        <p:spPr>
          <a:xfrm>
            <a:off x="457200" y="3790950"/>
            <a:ext cx="10801350" cy="762000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FECDF1-00DB-42C5-B583-625AE6C0B18B}"/>
              </a:ext>
            </a:extLst>
          </p:cNvPr>
          <p:cNvSpPr>
            <a:spLocks noGrp="1"/>
          </p:cNvSpPr>
          <p:nvPr/>
        </p:nvSpPr>
        <p:spPr>
          <a:xfrm>
            <a:off x="628650" y="3867150"/>
            <a:ext cx="10458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Zero null cells after cleaning means missing values were handled explicitly. It does not mean all source facts are verified.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79CEAE-BC31-4367-8FE9-D7B72AAE8731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Highest-priority data issues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38EE14-B008-45F6-8074-B932ADBC28E7}"/>
              </a:ext>
            </a:extLst>
          </p:cNvPr>
          <p:cNvSpPr>
            <a:spLocks noGrp="1"/>
          </p:cNvSpPr>
          <p:nvPr/>
        </p:nvSpPr>
        <p:spPr>
          <a:xfrm>
            <a:off x="457200" y="5238750"/>
            <a:ext cx="1066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• 94.9% department/facility identifier disagreement</a:t>
            </a:r>
          </a:p>
          <a:p>
            <a: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• Billing statuses conflict with linked payment activity</a:t>
            </a:r>
          </a:p>
          <a:p>
            <a: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• Currency, active coverage, staffing assignments, and bed occupancy are not verified</a:t>
            </a:r>
          </a:p>
        </p:txBody>
      </p:sp>
    </p:spTree>
    <p:extLst>
      <p:ext uri="{BB962C8B-B14F-4D97-AF65-F5344CB8AC3E}">
        <p14:creationId xmlns:p14="http://schemas.microsoft.com/office/powerpoint/2010/main" val="154581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BD9C790-0C26-45DA-B1FD-6E62A373CD52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1" dirty="0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9C1D91-204A-4176-86D5-E789F714D112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Patient profile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3C91D4-E244-4E12-86A6-CBA4466E1F5D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604D12-7FBC-422D-A32B-0A7004A70E05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7B1BE-B4DF-402C-AC9A-986D8F82298F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Dorian NJAMI  |  </a:t>
            </a:r>
            <a:r>
              <a:rPr sz="1000" b="0" dirty="0" err="1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AnalystLab</a:t>
            </a: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3E040-3A2C-45C9-872B-5F4E39DBAE4A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CDE3B-A01B-4877-9ED9-AF70FDE30203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11096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The cohort spans all ages and is almost evenly split by recorded gender. Clinical history is incomplete for roughly one in four patients.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8C5CA2-4B11-4085-BED7-344D44A5D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5505" y="2000250"/>
            <a:ext cx="4377390" cy="3619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C2A53B-D3AC-4019-BED4-B0F55E98485F}"/>
              </a:ext>
            </a:extLst>
          </p:cNvPr>
          <p:cNvSpPr>
            <a:spLocks noGrp="1"/>
          </p:cNvSpPr>
          <p:nvPr/>
        </p:nvSpPr>
        <p:spPr>
          <a:xfrm>
            <a:off x="6324600" y="2143125"/>
            <a:ext cx="2238375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12E4A3-3775-4325-9E1E-2C87FAA916AE}"/>
              </a:ext>
            </a:extLst>
          </p:cNvPr>
          <p:cNvSpPr>
            <a:spLocks noGrp="1"/>
          </p:cNvSpPr>
          <p:nvPr/>
        </p:nvSpPr>
        <p:spPr>
          <a:xfrm>
            <a:off x="6457950" y="2257425"/>
            <a:ext cx="1971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45.5 years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5F37FE-A091-404E-8873-8967444D79B7}"/>
              </a:ext>
            </a:extLst>
          </p:cNvPr>
          <p:cNvSpPr>
            <a:spLocks noGrp="1"/>
          </p:cNvSpPr>
          <p:nvPr/>
        </p:nvSpPr>
        <p:spPr>
          <a:xfrm>
            <a:off x="6438900" y="2647950"/>
            <a:ext cx="2009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Mean 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BDE5C9-5F37-4BA8-817D-3B42F3B46284}"/>
              </a:ext>
            </a:extLst>
          </p:cNvPr>
          <p:cNvSpPr>
            <a:spLocks noGrp="1"/>
          </p:cNvSpPr>
          <p:nvPr/>
        </p:nvSpPr>
        <p:spPr>
          <a:xfrm>
            <a:off x="6438900" y="2971800"/>
            <a:ext cx="20097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Median: 46 years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D51885-AAAA-4500-98DF-ACBE4C75F19F}"/>
              </a:ext>
            </a:extLst>
          </p:cNvPr>
          <p:cNvSpPr>
            <a:spLocks noGrp="1"/>
          </p:cNvSpPr>
          <p:nvPr/>
        </p:nvSpPr>
        <p:spPr>
          <a:xfrm>
            <a:off x="8820150" y="2143125"/>
            <a:ext cx="2238375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197623-6112-4C24-8343-0DA5BBCAAD5B}"/>
              </a:ext>
            </a:extLst>
          </p:cNvPr>
          <p:cNvSpPr>
            <a:spLocks noGrp="1"/>
          </p:cNvSpPr>
          <p:nvPr/>
        </p:nvSpPr>
        <p:spPr>
          <a:xfrm>
            <a:off x="8953500" y="2257425"/>
            <a:ext cx="1971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50.8%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7A9C0B-1F4C-4D32-B3D9-B4C85C9A0E75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2009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Male patients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43422C-1A3F-4601-9B65-BD2496A957EC}"/>
              </a:ext>
            </a:extLst>
          </p:cNvPr>
          <p:cNvSpPr>
            <a:spLocks noGrp="1"/>
          </p:cNvSpPr>
          <p:nvPr/>
        </p:nvSpPr>
        <p:spPr>
          <a:xfrm>
            <a:off x="8934450" y="2971800"/>
            <a:ext cx="20097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2,256 male / 2,187 female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93BCA9-AC44-42DB-8B8A-AEF254AE17BD}"/>
              </a:ext>
            </a:extLst>
          </p:cNvPr>
          <p:cNvSpPr>
            <a:spLocks noGrp="1"/>
          </p:cNvSpPr>
          <p:nvPr/>
        </p:nvSpPr>
        <p:spPr>
          <a:xfrm>
            <a:off x="6324600" y="377190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Chronic conditions are recorded for 3,312 patients. Another 1,131 have no history recorded, so the data cannot confirm whether they have no chronic condition.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3ACF02-C52A-45DD-A82F-9E7E3A5BDBC7}"/>
              </a:ext>
            </a:extLst>
          </p:cNvPr>
          <p:cNvSpPr>
            <a:spLocks noGrp="1"/>
          </p:cNvSpPr>
          <p:nvPr/>
        </p:nvSpPr>
        <p:spPr>
          <a:xfrm>
            <a:off x="6324600" y="4953000"/>
            <a:ext cx="4762500" cy="781050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22D89A-45D8-43DA-AC1B-11D8C01A7B68}"/>
              </a:ext>
            </a:extLst>
          </p:cNvPr>
          <p:cNvSpPr>
            <a:spLocks noGrp="1"/>
          </p:cNvSpPr>
          <p:nvPr/>
        </p:nvSpPr>
        <p:spPr>
          <a:xfrm>
            <a:off x="6496050" y="5029200"/>
            <a:ext cx="4419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Do not use “not recorded” as a negative diagnosis or interpret the appointment cohort as population prevalence.</a:t>
            </a:r>
          </a:p>
        </p:txBody>
      </p:sp>
    </p:spTree>
    <p:extLst>
      <p:ext uri="{BB962C8B-B14F-4D97-AF65-F5344CB8AC3E}">
        <p14:creationId xmlns:p14="http://schemas.microsoft.com/office/powerpoint/2010/main" val="188815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5916EFF-04EA-4F6C-8F52-A6B73A2191BF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1" dirty="0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E20055-4146-4826-A19D-BED2D4614161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Clinical activity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140CC5-DE8C-461E-A37F-1142A90B70DD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A40AB-3B67-4AAB-89C0-42A98E29725A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446250-10B3-45E2-9F3E-1A4D523C70B3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Dorian NJAMI  |  </a:t>
            </a:r>
            <a:r>
              <a:rPr sz="1000" b="0" dirty="0" err="1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AnalystLab</a:t>
            </a: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1C0F-4A07-4BDD-B902-DDF47A265A39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B4D340-D494-4F6A-8828-AA10CD31A1D7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11096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Diagnosis categories are relatively balanced. Laboratory records link to 45.4% of cohort visits, while diagnosis records are present across the appointment cohort.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CD454-CDA5-483F-A759-86014BA35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7856" y="2076450"/>
            <a:ext cx="5072688" cy="3429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4DAEBB-6887-473E-9DC8-1FF6E0C3482C}"/>
              </a:ext>
            </a:extLst>
          </p:cNvPr>
          <p:cNvSpPr>
            <a:spLocks noGrp="1"/>
          </p:cNvSpPr>
          <p:nvPr/>
        </p:nvSpPr>
        <p:spPr>
          <a:xfrm>
            <a:off x="6324600" y="2286000"/>
            <a:ext cx="2190750" cy="123825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165230-DCF3-4202-800E-323B8294762E}"/>
              </a:ext>
            </a:extLst>
          </p:cNvPr>
          <p:cNvSpPr>
            <a:spLocks noGrp="1"/>
          </p:cNvSpPr>
          <p:nvPr/>
        </p:nvSpPr>
        <p:spPr>
          <a:xfrm>
            <a:off x="6457950" y="2400300"/>
            <a:ext cx="1924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1,059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80680C-2DEB-4933-84A6-3F7E487474B6}"/>
              </a:ext>
            </a:extLst>
          </p:cNvPr>
          <p:cNvSpPr>
            <a:spLocks noGrp="1"/>
          </p:cNvSpPr>
          <p:nvPr/>
        </p:nvSpPr>
        <p:spPr>
          <a:xfrm>
            <a:off x="6438900" y="2790825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Most common diagnosis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C26F86-2E08-4906-87DA-6D055275A10A}"/>
              </a:ext>
            </a:extLst>
          </p:cNvPr>
          <p:cNvSpPr>
            <a:spLocks noGrp="1"/>
          </p:cNvSpPr>
          <p:nvPr/>
        </p:nvSpPr>
        <p:spPr>
          <a:xfrm>
            <a:off x="6438900" y="3114675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Hypertension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8E115B-969B-4FDA-A44F-F8664FD6C78D}"/>
              </a:ext>
            </a:extLst>
          </p:cNvPr>
          <p:cNvSpPr>
            <a:spLocks noGrp="1"/>
          </p:cNvSpPr>
          <p:nvPr/>
        </p:nvSpPr>
        <p:spPr>
          <a:xfrm>
            <a:off x="8782050" y="2286000"/>
            <a:ext cx="2190750" cy="123825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D178CA-0C72-486B-9225-763AD4BCBF49}"/>
              </a:ext>
            </a:extLst>
          </p:cNvPr>
          <p:cNvSpPr>
            <a:spLocks noGrp="1"/>
          </p:cNvSpPr>
          <p:nvPr/>
        </p:nvSpPr>
        <p:spPr>
          <a:xfrm>
            <a:off x="8915400" y="2400300"/>
            <a:ext cx="1924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45.4%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28451F-DACC-4EA3-8D83-0204DBB444EF}"/>
              </a:ext>
            </a:extLst>
          </p:cNvPr>
          <p:cNvSpPr>
            <a:spLocks noGrp="1"/>
          </p:cNvSpPr>
          <p:nvPr/>
        </p:nvSpPr>
        <p:spPr>
          <a:xfrm>
            <a:off x="8896350" y="2790825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Visits with lab record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F7E581-3039-4E53-AB32-EF3305CC0412}"/>
              </a:ext>
            </a:extLst>
          </p:cNvPr>
          <p:cNvSpPr>
            <a:spLocks noGrp="1"/>
          </p:cNvSpPr>
          <p:nvPr/>
        </p:nvSpPr>
        <p:spPr>
          <a:xfrm>
            <a:off x="8896350" y="3114675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2,272 appointments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68A5CB-46AA-40D6-9790-3DE7427ECC55}"/>
              </a:ext>
            </a:extLst>
          </p:cNvPr>
          <p:cNvSpPr>
            <a:spLocks noGrp="1"/>
          </p:cNvSpPr>
          <p:nvPr/>
        </p:nvSpPr>
        <p:spPr>
          <a:xfrm>
            <a:off x="6324600" y="39052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The charts count linked records, not disease incidence, abnormal test results, treatment adherence, or clinical necessity. Severity labels were not independently validated.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0BBC44-A284-402D-8ED3-34B7F4926E2F}"/>
              </a:ext>
            </a:extLst>
          </p:cNvPr>
          <p:cNvSpPr>
            <a:spLocks noGrp="1"/>
          </p:cNvSpPr>
          <p:nvPr/>
        </p:nvSpPr>
        <p:spPr>
          <a:xfrm>
            <a:off x="6324600" y="5143500"/>
            <a:ext cx="4857750" cy="590550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3E528B-94C3-4991-98F6-04AEAD721AEB}"/>
              </a:ext>
            </a:extLst>
          </p:cNvPr>
          <p:cNvSpPr>
            <a:spLocks noGrp="1"/>
          </p:cNvSpPr>
          <p:nvPr/>
        </p:nvSpPr>
        <p:spPr>
          <a:xfrm>
            <a:off x="6496050" y="5219700"/>
            <a:ext cx="4514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These patterns describe documentation in the supplied files, not the health profile of Rwanda.</a:t>
            </a:r>
          </a:p>
        </p:txBody>
      </p:sp>
    </p:spTree>
    <p:extLst>
      <p:ext uri="{BB962C8B-B14F-4D97-AF65-F5344CB8AC3E}">
        <p14:creationId xmlns:p14="http://schemas.microsoft.com/office/powerpoint/2010/main" val="178387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02CEE12-17C5-4554-8DC1-577DD027222D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1" dirty="0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515069-77EB-4E41-83A3-B873792D8E04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Operational patterns and measurement gaps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3430EF-218B-4E13-9B2E-EF0B66BF4A1E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5D7C3C-6C5F-4B93-8CE9-E8E6B0FB1712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588E53-8405-4802-9888-4E88394C2EE1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Dorian NJAMI  |  </a:t>
            </a:r>
            <a:r>
              <a:rPr sz="1000" b="0" dirty="0" err="1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AnalystLab</a:t>
            </a: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B3EA68-6DDC-4B13-A2C6-F303694D4077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E44983-F16B-4E56-85E3-FB8C98055F07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10953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 dirty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The available rosters provide context on listed staff and equipment, but they do not record assignments, shifts, availability over time, or patient-to-resource events.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A33C11-0944-4C31-AD3F-048888FFA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8485" y="2143125"/>
            <a:ext cx="4436181" cy="33337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5CDA1F0-B695-43C1-8714-C92CDBFB69F0}"/>
              </a:ext>
            </a:extLst>
          </p:cNvPr>
          <p:cNvSpPr>
            <a:spLocks noGrp="1"/>
          </p:cNvSpPr>
          <p:nvPr/>
        </p:nvSpPr>
        <p:spPr>
          <a:xfrm>
            <a:off x="6286500" y="2190750"/>
            <a:ext cx="2266950" cy="116205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04045-32C4-43D0-A0DB-2724DD3127FC}"/>
              </a:ext>
            </a:extLst>
          </p:cNvPr>
          <p:cNvSpPr>
            <a:spLocks noGrp="1"/>
          </p:cNvSpPr>
          <p:nvPr/>
        </p:nvSpPr>
        <p:spPr>
          <a:xfrm>
            <a:off x="6419850" y="23050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5–28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2EF5FA-A4D2-46B4-B7CD-BDE41695227D}"/>
              </a:ext>
            </a:extLst>
          </p:cNvPr>
          <p:cNvSpPr>
            <a:spLocks noGrp="1"/>
          </p:cNvSpPr>
          <p:nvPr/>
        </p:nvSpPr>
        <p:spPr>
          <a:xfrm>
            <a:off x="6400800" y="2695575"/>
            <a:ext cx="2038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Visits per doctor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1853E2-A727-4158-91F3-72F928EDA082}"/>
              </a:ext>
            </a:extLst>
          </p:cNvPr>
          <p:cNvSpPr>
            <a:spLocks noGrp="1"/>
          </p:cNvSpPr>
          <p:nvPr/>
        </p:nvSpPr>
        <p:spPr>
          <a:xfrm>
            <a:off x="6400800" y="301942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Observed appointments in cohort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8645AE-7BD8-493C-85AF-1420F298EEFC}"/>
              </a:ext>
            </a:extLst>
          </p:cNvPr>
          <p:cNvSpPr>
            <a:spLocks noGrp="1"/>
          </p:cNvSpPr>
          <p:nvPr/>
        </p:nvSpPr>
        <p:spPr>
          <a:xfrm>
            <a:off x="8810625" y="2190750"/>
            <a:ext cx="2266950" cy="116205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D519D6-1CB9-4814-8FA6-E466E3D6E02B}"/>
              </a:ext>
            </a:extLst>
          </p:cNvPr>
          <p:cNvSpPr>
            <a:spLocks noGrp="1"/>
          </p:cNvSpPr>
          <p:nvPr/>
        </p:nvSpPr>
        <p:spPr>
          <a:xfrm>
            <a:off x="8943975" y="23050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2,000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4D300B-6034-4CC2-AB6A-45F071BEF266}"/>
              </a:ext>
            </a:extLst>
          </p:cNvPr>
          <p:cNvSpPr>
            <a:spLocks noGrp="1"/>
          </p:cNvSpPr>
          <p:nvPr/>
        </p:nvSpPr>
        <p:spPr>
          <a:xfrm>
            <a:off x="8924925" y="2695575"/>
            <a:ext cx="2038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Listed beds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2A0694-02F6-40A4-989A-84A0AA882388}"/>
              </a:ext>
            </a:extLst>
          </p:cNvPr>
          <p:cNvSpPr>
            <a:spLocks noGrp="1"/>
          </p:cNvSpPr>
          <p:nvPr/>
        </p:nvSpPr>
        <p:spPr>
          <a:xfrm>
            <a:off x="8924925" y="301942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All status labels: Available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2386F8-CB17-4D2B-85F0-3D8A8DFBC572}"/>
              </a:ext>
            </a:extLst>
          </p:cNvPr>
          <p:cNvSpPr>
            <a:spLocks noGrp="1"/>
          </p:cNvSpPr>
          <p:nvPr/>
        </p:nvSpPr>
        <p:spPr>
          <a:xfrm>
            <a:off x="6286500" y="3762375"/>
            <a:ext cx="4857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A roster count is not a measure of actual workload or utilization. Facility volume also lacks a capacity denominator, so it should not be called occupancy or utilization.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16E9A4-7C21-47FF-8720-691F83468187}"/>
              </a:ext>
            </a:extLst>
          </p:cNvPr>
          <p:cNvSpPr>
            <a:spLocks noGrp="1"/>
          </p:cNvSpPr>
          <p:nvPr/>
        </p:nvSpPr>
        <p:spPr>
          <a:xfrm>
            <a:off x="6286500" y="5048250"/>
            <a:ext cx="4857750" cy="666750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8357C7-3A6A-42ED-91D8-F2065B8BA288}"/>
              </a:ext>
            </a:extLst>
          </p:cNvPr>
          <p:cNvSpPr>
            <a:spLocks noGrp="1"/>
          </p:cNvSpPr>
          <p:nvPr/>
        </p:nvSpPr>
        <p:spPr>
          <a:xfrm>
            <a:off x="6457950" y="5124450"/>
            <a:ext cx="451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Collect time-stamped shifts, assignments, occupancy, and equipment events before ranking capacity.</a:t>
            </a:r>
          </a:p>
        </p:txBody>
      </p:sp>
    </p:spTree>
    <p:extLst>
      <p:ext uri="{BB962C8B-B14F-4D97-AF65-F5344CB8AC3E}">
        <p14:creationId xmlns:p14="http://schemas.microsoft.com/office/powerpoint/2010/main" val="162015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68F620B-C8CD-4376-B388-3E39A23EA384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307E16-0A65-4B43-BD06-411F9F0AB4BC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Financial activity and reconciliation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195291-28EC-4561-BA8C-2BEC17F6BAE6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30ECA7-6AC9-4AD7-83BA-7BE645E1CF6D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34690B-9547-4ECF-8E13-F7F40A537AD2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Dorian NJAMI  |  </a:t>
            </a:r>
            <a:r>
              <a:rPr sz="1000" b="0" dirty="0" err="1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AnalystLab</a:t>
            </a: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267601-2648-4095-A7D1-9EEFABCA5655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E3AD5E-122A-4B2A-814E-8BDFE21C8A0E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10906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Linked invoices and payment transactions show monthly co-movement, but their statuses and calculated balances are inconsistent.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16A30D-6884-4B60-86B2-8743BD030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61845" y="1952625"/>
            <a:ext cx="4477210" cy="381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49E0DA-2FB1-4CDE-88A7-1E544B855EFA}"/>
              </a:ext>
            </a:extLst>
          </p:cNvPr>
          <p:cNvSpPr>
            <a:spLocks noGrp="1"/>
          </p:cNvSpPr>
          <p:nvPr/>
        </p:nvSpPr>
        <p:spPr>
          <a:xfrm>
            <a:off x="7239000" y="2190750"/>
            <a:ext cx="1952625" cy="114300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BC1EE8-E67B-44FE-B575-DA124FEDEB02}"/>
              </a:ext>
            </a:extLst>
          </p:cNvPr>
          <p:cNvSpPr>
            <a:spLocks noGrp="1"/>
          </p:cNvSpPr>
          <p:nvPr/>
        </p:nvSpPr>
        <p:spPr>
          <a:xfrm>
            <a:off x="7372350" y="2305050"/>
            <a:ext cx="16859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70.2m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B0E8C1-9B7F-4B2B-A040-204712832388}"/>
              </a:ext>
            </a:extLst>
          </p:cNvPr>
          <p:cNvSpPr>
            <a:spLocks noGrp="1"/>
          </p:cNvSpPr>
          <p:nvPr/>
        </p:nvSpPr>
        <p:spPr>
          <a:xfrm>
            <a:off x="7353300" y="2695575"/>
            <a:ext cx="17240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Highest monthly billed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129BF3-F5D6-4FDE-9D6A-8CF75D103219}"/>
              </a:ext>
            </a:extLst>
          </p:cNvPr>
          <p:cNvSpPr>
            <a:spLocks noGrp="1"/>
          </p:cNvSpPr>
          <p:nvPr/>
        </p:nvSpPr>
        <p:spPr>
          <a:xfrm>
            <a:off x="7353300" y="3019425"/>
            <a:ext cx="1724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June, source units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2CB7C3-08F5-4A75-817E-A676DAC3F659}"/>
              </a:ext>
            </a:extLst>
          </p:cNvPr>
          <p:cNvSpPr>
            <a:spLocks noGrp="1"/>
          </p:cNvSpPr>
          <p:nvPr/>
        </p:nvSpPr>
        <p:spPr>
          <a:xfrm>
            <a:off x="9410700" y="2190750"/>
            <a:ext cx="1952625" cy="114300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F31084-4306-4C84-98ED-38D0E01DE048}"/>
              </a:ext>
            </a:extLst>
          </p:cNvPr>
          <p:cNvSpPr>
            <a:spLocks noGrp="1"/>
          </p:cNvSpPr>
          <p:nvPr/>
        </p:nvSpPr>
        <p:spPr>
          <a:xfrm>
            <a:off x="9544050" y="2305050"/>
            <a:ext cx="16859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57.2m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0B5BEA-3463-4A83-B815-B92A095E45CA}"/>
              </a:ext>
            </a:extLst>
          </p:cNvPr>
          <p:cNvSpPr>
            <a:spLocks noGrp="1"/>
          </p:cNvSpPr>
          <p:nvPr/>
        </p:nvSpPr>
        <p:spPr>
          <a:xfrm>
            <a:off x="9525000" y="2695575"/>
            <a:ext cx="17240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Lowest monthly billed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C156C5-0CD6-4328-A911-57992CDCEF97}"/>
              </a:ext>
            </a:extLst>
          </p:cNvPr>
          <p:cNvSpPr>
            <a:spLocks noGrp="1"/>
          </p:cNvSpPr>
          <p:nvPr/>
        </p:nvSpPr>
        <p:spPr>
          <a:xfrm>
            <a:off x="9525000" y="3019425"/>
            <a:ext cx="1724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September, source units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7CCFB1-F5D8-4126-A690-A48B462A12E9}"/>
              </a:ext>
            </a:extLst>
          </p:cNvPr>
          <p:cNvSpPr>
            <a:spLocks noGrp="1"/>
          </p:cNvSpPr>
          <p:nvPr/>
        </p:nvSpPr>
        <p:spPr>
          <a:xfrm>
            <a:off x="7239000" y="3676650"/>
            <a:ext cx="41529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Receipts remain below billed totals. Paid bills still have calculated balances, and Pending bills can have payments. Currency is unspecified. The unlinked Revenue_Summary is not assigned to departments.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BCD77C-2E68-4736-BF4E-349FB237B47C}"/>
              </a:ext>
            </a:extLst>
          </p:cNvPr>
          <p:cNvSpPr>
            <a:spLocks noGrp="1"/>
          </p:cNvSpPr>
          <p:nvPr/>
        </p:nvSpPr>
        <p:spPr>
          <a:xfrm>
            <a:off x="7239000" y="5238750"/>
            <a:ext cx="4152900" cy="647700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014071-2FDB-4B96-9388-D1864ECDC06A}"/>
              </a:ext>
            </a:extLst>
          </p:cNvPr>
          <p:cNvSpPr>
            <a:spLocks noGrp="1"/>
          </p:cNvSpPr>
          <p:nvPr/>
        </p:nvSpPr>
        <p:spPr>
          <a:xfrm>
            <a:off x="7410450" y="5314950"/>
            <a:ext cx="381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Reconcile each bill against transactions before reporting collected or outstanding revenue.</a:t>
            </a:r>
          </a:p>
        </p:txBody>
      </p:sp>
    </p:spTree>
    <p:extLst>
      <p:ext uri="{BB962C8B-B14F-4D97-AF65-F5344CB8AC3E}">
        <p14:creationId xmlns:p14="http://schemas.microsoft.com/office/powerpoint/2010/main" val="799740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B08E498-8709-4B79-B43E-42E3998E3588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1" dirty="0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43C733-C746-4A1A-91ED-FCB3888487A3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Patient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539B99-7B79-4EC8-BF31-26DF03C53743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C9A9F0-E980-48FE-B6CA-8531E5A6CAA5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A2A8F2-F49F-455D-A26A-0D0FC441BB4D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Dorian NJAMI  |  </a:t>
            </a:r>
            <a:r>
              <a:rPr sz="1000" b="0" dirty="0" err="1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AnalystLab</a:t>
            </a: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B0034A-5B09-4105-8495-EFD19D25250A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52A830-D51F-41F1-ADFC-68A7BF9174CD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11001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Feedback is mixed and covers 35.1% of appointments. The response gap means reported ratings may not represent every patient.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13D6F9-75F7-4AAE-A9A3-2A8D8C434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8506" y="2000250"/>
            <a:ext cx="4802888" cy="35718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14C6CB7-B901-494A-9C42-1D5F34754981}"/>
              </a:ext>
            </a:extLst>
          </p:cNvPr>
          <p:cNvSpPr>
            <a:spLocks noGrp="1"/>
          </p:cNvSpPr>
          <p:nvPr/>
        </p:nvSpPr>
        <p:spPr>
          <a:xfrm>
            <a:off x="6858000" y="2143125"/>
            <a:ext cx="2095500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449A33-8AE4-4123-972F-4664BC910A82}"/>
              </a:ext>
            </a:extLst>
          </p:cNvPr>
          <p:cNvSpPr>
            <a:spLocks noGrp="1"/>
          </p:cNvSpPr>
          <p:nvPr/>
        </p:nvSpPr>
        <p:spPr>
          <a:xfrm>
            <a:off x="6991350" y="2257425"/>
            <a:ext cx="1828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2.93 / 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CEB9EF-4985-4EA4-B497-DDDD70A94CAA}"/>
              </a:ext>
            </a:extLst>
          </p:cNvPr>
          <p:cNvSpPr>
            <a:spLocks noGrp="1"/>
          </p:cNvSpPr>
          <p:nvPr/>
        </p:nvSpPr>
        <p:spPr>
          <a:xfrm>
            <a:off x="6972300" y="26479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Average score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A4C5B-6BF0-4597-84AD-01FE3C41D48C}"/>
              </a:ext>
            </a:extLst>
          </p:cNvPr>
          <p:cNvSpPr>
            <a:spLocks noGrp="1"/>
          </p:cNvSpPr>
          <p:nvPr/>
        </p:nvSpPr>
        <p:spPr>
          <a:xfrm>
            <a:off x="6972300" y="2971800"/>
            <a:ext cx="18669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Median and mode: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5281D-1983-42AD-AE7A-F647D255AE95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2095500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B61E18-B825-441D-99FE-B00833631769}"/>
              </a:ext>
            </a:extLst>
          </p:cNvPr>
          <p:cNvSpPr>
            <a:spLocks noGrp="1"/>
          </p:cNvSpPr>
          <p:nvPr/>
        </p:nvSpPr>
        <p:spPr>
          <a:xfrm>
            <a:off x="9277350" y="2257425"/>
            <a:ext cx="1828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40.9%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C637F8-3946-4F52-B9AE-C5D178A65426}"/>
              </a:ext>
            </a:extLst>
          </p:cNvPr>
          <p:cNvSpPr>
            <a:spLocks noGrp="1"/>
          </p:cNvSpPr>
          <p:nvPr/>
        </p:nvSpPr>
        <p:spPr>
          <a:xfrm>
            <a:off x="9258300" y="26479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Ratings 1–2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98E9ED-D733-4013-A6C1-C02E731C9B42}"/>
              </a:ext>
            </a:extLst>
          </p:cNvPr>
          <p:cNvSpPr>
            <a:spLocks noGrp="1"/>
          </p:cNvSpPr>
          <p:nvPr/>
        </p:nvSpPr>
        <p:spPr>
          <a:xfrm>
            <a:off x="9258300" y="2971800"/>
            <a:ext cx="18669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719 of 1,756 rated records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1CFC96-B047-4E0B-9511-9B112DECA3F9}"/>
              </a:ext>
            </a:extLst>
          </p:cNvPr>
          <p:cNvSpPr>
            <a:spLocks noGrp="1"/>
          </p:cNvSpPr>
          <p:nvPr/>
        </p:nvSpPr>
        <p:spPr>
          <a:xfrm>
            <a:off x="6858000" y="3857625"/>
            <a:ext cx="4476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Department averages range from 2.76 to 3.02. The visible facility gap is descriptive and may reflect different patient mix or response patterns.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B0C3E6-E1C3-43F7-87F3-937BC498CA3C}"/>
              </a:ext>
            </a:extLst>
          </p:cNvPr>
          <p:cNvSpPr>
            <a:spLocks noGrp="1"/>
          </p:cNvSpPr>
          <p:nvPr/>
        </p:nvSpPr>
        <p:spPr>
          <a:xfrm>
            <a:off x="6858000" y="5000625"/>
            <a:ext cx="4476750" cy="723900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1D1476-A223-4C67-831F-2428E3755B13}"/>
              </a:ext>
            </a:extLst>
          </p:cNvPr>
          <p:cNvSpPr>
            <a:spLocks noGrp="1"/>
          </p:cNvSpPr>
          <p:nvPr/>
        </p:nvSpPr>
        <p:spPr>
          <a:xfrm>
            <a:off x="7029450" y="5076825"/>
            <a:ext cx="4133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Review low-score feedback themes together with response rates before setting service targets.</a:t>
            </a:r>
          </a:p>
        </p:txBody>
      </p:sp>
    </p:spTree>
    <p:extLst>
      <p:ext uri="{BB962C8B-B14F-4D97-AF65-F5344CB8AC3E}">
        <p14:creationId xmlns:p14="http://schemas.microsoft.com/office/powerpoint/2010/main" val="1745661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FEB82F8-EA3A-4118-9A31-37DB798B8DC4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1" dirty="0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1C308E-1EF5-485D-8DD2-15D6FE073DAD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Statistical findings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9978E-92B6-457F-9AD0-FF4A3908E71A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8F607A-6446-4384-9AE6-3286E65A31E6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A2F6DE-488F-4206-A35A-D9323E55F11A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Dorian NJAMI  |  </a:t>
            </a:r>
            <a:r>
              <a:rPr sz="1000" b="0" dirty="0" err="1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AnalystLab</a:t>
            </a: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956073-2DA7-462A-9D6C-E0CFDCAFE3B8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AA11A4-C359-4319-B335-9431ABF99076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Holm adjustment controls the chance of false positives across the five related tests. H2 is not significant after this adjustment.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14C942-6208-49BB-B9F8-2E804697667E}"/>
              </a:ext>
            </a:extLst>
          </p:cNvPr>
          <p:cNvSpPr>
            <a:spLocks noGrp="1"/>
          </p:cNvSpPr>
          <p:nvPr/>
        </p:nvSpPr>
        <p:spPr>
          <a:xfrm>
            <a:off x="457200" y="2028825"/>
            <a:ext cx="11001375" cy="476250"/>
          </a:xfrm>
          <a:prstGeom prst="rect">
            <a:avLst/>
          </a:prstGeom>
          <a:solidFill>
            <a:srgbClr val="2747A5"/>
          </a:solidFill>
          <a:ln w="9525">
            <a:solidFill>
              <a:srgbClr val="2747A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E5EF9-1DE5-4F11-AAF8-23C665C77005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Test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D0CCC2-3748-4859-A445-C07808BD3CF0}"/>
              </a:ext>
            </a:extLst>
          </p:cNvPr>
          <p:cNvSpPr>
            <a:spLocks noGrp="1"/>
          </p:cNvSpPr>
          <p:nvPr/>
        </p:nvSpPr>
        <p:spPr>
          <a:xfrm>
            <a:off x="5219700" y="20955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Raw 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586C8D-E1E7-497D-B4E9-F6C1C86C4544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Holm 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EB6F7-E142-439F-BA18-E2E58042CCE8}"/>
              </a:ext>
            </a:extLst>
          </p:cNvPr>
          <p:cNvSpPr>
            <a:spLocks noGrp="1"/>
          </p:cNvSpPr>
          <p:nvPr/>
        </p:nvSpPr>
        <p:spPr>
          <a:xfrm>
            <a:off x="8029575" y="2095500"/>
            <a:ext cx="3286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Result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B79255-B4EF-48FD-875C-483532CB58B6}"/>
              </a:ext>
            </a:extLst>
          </p:cNvPr>
          <p:cNvSpPr>
            <a:spLocks noGrp="1"/>
          </p:cNvSpPr>
          <p:nvPr/>
        </p:nvSpPr>
        <p:spPr>
          <a:xfrm>
            <a:off x="457200" y="2600325"/>
            <a:ext cx="11001375" cy="476250"/>
          </a:xfrm>
          <a:prstGeom prst="rect">
            <a:avLst/>
          </a:prstGeom>
          <a:solidFill>
            <a:srgbClr val="F5F7F9"/>
          </a:solidFill>
          <a:ln w="9525">
            <a:solidFill>
              <a:srgbClr val="DCE2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41FEAB-9382-44F8-8BF9-7849340CED11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 dirty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Satisfaction by facility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903936-F0FA-4050-A4A1-2876BAC480E8}"/>
              </a:ext>
            </a:extLst>
          </p:cNvPr>
          <p:cNvSpPr>
            <a:spLocks noGrp="1"/>
          </p:cNvSpPr>
          <p:nvPr/>
        </p:nvSpPr>
        <p:spPr>
          <a:xfrm>
            <a:off x="5219700" y="26670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0.727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5A12A5-705A-4DA9-9BC0-C7EBBB67C513}"/>
              </a:ext>
            </a:extLst>
          </p:cNvPr>
          <p:cNvSpPr>
            <a:spLocks noGrp="1"/>
          </p:cNvSpPr>
          <p:nvPr/>
        </p:nvSpPr>
        <p:spPr>
          <a:xfrm>
            <a:off x="6667500" y="26670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1.000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08390C-AE62-403F-A818-8FC08B066DD9}"/>
              </a:ext>
            </a:extLst>
          </p:cNvPr>
          <p:cNvSpPr>
            <a:spLocks noGrp="1"/>
          </p:cNvSpPr>
          <p:nvPr/>
        </p:nvSpPr>
        <p:spPr>
          <a:xfrm>
            <a:off x="8029575" y="2667000"/>
            <a:ext cx="3286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No evidence of difference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4BB210-131D-4B0F-ACF2-D39730AE3DE2}"/>
              </a:ext>
            </a:extLst>
          </p:cNvPr>
          <p:cNvSpPr>
            <a:spLocks noGrp="1"/>
          </p:cNvSpPr>
          <p:nvPr/>
        </p:nvSpPr>
        <p:spPr>
          <a:xfrm>
            <a:off x="457200" y="3171825"/>
            <a:ext cx="1100137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FA30DC-C5BF-490A-B5C3-4EDF43340F69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Admission rate by age group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C79ED4-CEEE-4827-AE6D-DE0C99D89593}"/>
              </a:ext>
            </a:extLst>
          </p:cNvPr>
          <p:cNvSpPr>
            <a:spLocks noGrp="1"/>
          </p:cNvSpPr>
          <p:nvPr/>
        </p:nvSpPr>
        <p:spPr>
          <a:xfrm>
            <a:off x="5219700" y="32385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0.0448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88EFF2-4BD3-4DA8-8503-4A46066D2938}"/>
              </a:ext>
            </a:extLst>
          </p:cNvPr>
          <p:cNvSpPr>
            <a:spLocks noGrp="1"/>
          </p:cNvSpPr>
          <p:nvPr/>
        </p:nvSpPr>
        <p:spPr>
          <a:xfrm>
            <a:off x="6667500" y="32385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0.1793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B0AD01-C622-476F-A858-65A9854C2DB8}"/>
              </a:ext>
            </a:extLst>
          </p:cNvPr>
          <p:cNvSpPr>
            <a:spLocks noGrp="1"/>
          </p:cNvSpPr>
          <p:nvPr/>
        </p:nvSpPr>
        <p:spPr>
          <a:xfrm>
            <a:off x="8029575" y="3238500"/>
            <a:ext cx="3286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Not significant after adjustment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C9D256-1F77-4F8C-85A4-F4F5C23C04D8}"/>
              </a:ext>
            </a:extLst>
          </p:cNvPr>
          <p:cNvSpPr>
            <a:spLocks noGrp="1"/>
          </p:cNvSpPr>
          <p:nvPr/>
        </p:nvSpPr>
        <p:spPr>
          <a:xfrm>
            <a:off x="457200" y="3743325"/>
            <a:ext cx="11001375" cy="476250"/>
          </a:xfrm>
          <a:prstGeom prst="rect">
            <a:avLst/>
          </a:prstGeom>
          <a:solidFill>
            <a:srgbClr val="F5F7F9"/>
          </a:solidFill>
          <a:ln w="9525">
            <a:solidFill>
              <a:srgbClr val="DCE2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2F5E8D-0E97-43B9-A7B9-4F083FA9707A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Severity and length of stay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313E59-FA20-4158-A8C1-9CFDA336115D}"/>
              </a:ext>
            </a:extLst>
          </p:cNvPr>
          <p:cNvSpPr>
            <a:spLocks noGrp="1"/>
          </p:cNvSpPr>
          <p:nvPr/>
        </p:nvSpPr>
        <p:spPr>
          <a:xfrm>
            <a:off x="5219700" y="38100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0.684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33B9A8-3CBC-45DA-8138-49281001290D}"/>
              </a:ext>
            </a:extLst>
          </p:cNvPr>
          <p:cNvSpPr>
            <a:spLocks noGrp="1"/>
          </p:cNvSpPr>
          <p:nvPr/>
        </p:nvSpPr>
        <p:spPr>
          <a:xfrm>
            <a:off x="6667500" y="38100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1.000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0C77C5-9B05-49AC-BC36-51888EB541E6}"/>
              </a:ext>
            </a:extLst>
          </p:cNvPr>
          <p:cNvSpPr>
            <a:spLocks noGrp="1"/>
          </p:cNvSpPr>
          <p:nvPr/>
        </p:nvSpPr>
        <p:spPr>
          <a:xfrm>
            <a:off x="8029575" y="3810000"/>
            <a:ext cx="3286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No observed association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A8AFC3-5DEC-43C3-87F0-2078A5855638}"/>
              </a:ext>
            </a:extLst>
          </p:cNvPr>
          <p:cNvSpPr>
            <a:spLocks noGrp="1"/>
          </p:cNvSpPr>
          <p:nvPr/>
        </p:nvSpPr>
        <p:spPr>
          <a:xfrm>
            <a:off x="457200" y="4314825"/>
            <a:ext cx="1100137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66071B-4A9E-4F5C-BB3B-2AB36D40D098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Workload proxy and satisfaction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7B283E-0145-4B87-B9D3-05E98E173DEE}"/>
              </a:ext>
            </a:extLst>
          </p:cNvPr>
          <p:cNvSpPr>
            <a:spLocks noGrp="1"/>
          </p:cNvSpPr>
          <p:nvPr/>
        </p:nvSpPr>
        <p:spPr>
          <a:xfrm>
            <a:off x="5219700" y="43815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0.731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B9C823-F17E-4859-ABBB-515E79E2A152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1.000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985448-A448-4131-9A8F-6C28E7A44013}"/>
              </a:ext>
            </a:extLst>
          </p:cNvPr>
          <p:cNvSpPr>
            <a:spLocks noGrp="1"/>
          </p:cNvSpPr>
          <p:nvPr/>
        </p:nvSpPr>
        <p:spPr>
          <a:xfrm>
            <a:off x="8029575" y="4381500"/>
            <a:ext cx="3286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No observed association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6988C1-4BFB-4A76-AACC-78E603BA24CC}"/>
              </a:ext>
            </a:extLst>
          </p:cNvPr>
          <p:cNvSpPr>
            <a:spLocks noGrp="1"/>
          </p:cNvSpPr>
          <p:nvPr/>
        </p:nvSpPr>
        <p:spPr>
          <a:xfrm>
            <a:off x="457200" y="4886325"/>
            <a:ext cx="11001375" cy="476250"/>
          </a:xfrm>
          <a:prstGeom prst="rect">
            <a:avLst/>
          </a:prstGeom>
          <a:solidFill>
            <a:srgbClr val="F5F7F9"/>
          </a:solidFill>
          <a:ln w="9525">
            <a:solidFill>
              <a:srgbClr val="DCE2E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C00254-01E3-4682-AA8A-8A990F425009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Receipts and patient volume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C047C9-7837-4E8B-983A-2E303DC27261}"/>
              </a:ext>
            </a:extLst>
          </p:cNvPr>
          <p:cNvSpPr>
            <a:spLocks noGrp="1"/>
          </p:cNvSpPr>
          <p:nvPr/>
        </p:nvSpPr>
        <p:spPr>
          <a:xfrm>
            <a:off x="5219700" y="49530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0.00003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B96CD4-BA78-4B82-BE37-0D584D7EAD55}"/>
              </a:ext>
            </a:extLst>
          </p:cNvPr>
          <p:cNvSpPr>
            <a:spLocks noGrp="1"/>
          </p:cNvSpPr>
          <p:nvPr/>
        </p:nvSpPr>
        <p:spPr>
          <a:xfrm>
            <a:off x="6667500" y="49530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0.00014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25B9A1-FDBE-497D-83DF-C4A76A6B68B0}"/>
              </a:ext>
            </a:extLst>
          </p:cNvPr>
          <p:cNvSpPr>
            <a:spLocks noGrp="1"/>
          </p:cNvSpPr>
          <p:nvPr/>
        </p:nvSpPr>
        <p:spPr>
          <a:xfrm>
            <a:off x="8029575" y="4953000"/>
            <a:ext cx="3286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Strong monthly association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1E8EAA-159E-4B08-951C-72DC4C5D64E0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1001375" cy="552450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3D5C7E-B65D-4E2B-845F-4E1DB7180A70}"/>
              </a:ext>
            </a:extLst>
          </p:cNvPr>
          <p:cNvSpPr>
            <a:spLocks noGrp="1"/>
          </p:cNvSpPr>
          <p:nvPr/>
        </p:nvSpPr>
        <p:spPr>
          <a:xfrm>
            <a:off x="628650" y="5695950"/>
            <a:ext cx="10658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The H2 effect is small (Cramer’s V = 0.047). H5 is based on 12 monthly observations and does not establish causality.</a:t>
            </a:r>
          </a:p>
        </p:txBody>
      </p:sp>
    </p:spTree>
    <p:extLst>
      <p:ext uri="{BB962C8B-B14F-4D97-AF65-F5344CB8AC3E}">
        <p14:creationId xmlns:p14="http://schemas.microsoft.com/office/powerpoint/2010/main" val="1569054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25F916D-3C3D-4C5C-B5A4-DBEE9A6E8328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6EDFB8-E79F-4646-A617-9D15BD26AC63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Demand and financial forecasts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26C9FA-88EC-4E28-8D5C-A05C63272809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43EEAF-0B02-4021-9A44-15CD73AB31FE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2BFCA1-369A-4B4C-B592-E1615D6CDE92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Dorian NJAMI  |  AnalystLab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19316-32A7-4D54-AECC-492A4E7DE01D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63399-8648-43BE-9E0D-D7E1D2954FDD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1104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A three-month moving-average baseline outperformed Holt’s damped trend in the final-three-month rolling backtest for each series.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4EB6E2-A2C6-41F4-B89B-3A573E726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2769855"/>
            <a:ext cx="6286500" cy="21279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F0880F-9D68-4AA6-A4C9-D112D199C569}"/>
              </a:ext>
            </a:extLst>
          </p:cNvPr>
          <p:cNvSpPr>
            <a:spLocks noGrp="1"/>
          </p:cNvSpPr>
          <p:nvPr/>
        </p:nvSpPr>
        <p:spPr>
          <a:xfrm>
            <a:off x="7239000" y="2143125"/>
            <a:ext cx="1952625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EC4F04-3979-4880-AD91-E682AC6829B8}"/>
              </a:ext>
            </a:extLst>
          </p:cNvPr>
          <p:cNvSpPr>
            <a:spLocks noGrp="1"/>
          </p:cNvSpPr>
          <p:nvPr/>
        </p:nvSpPr>
        <p:spPr>
          <a:xfrm>
            <a:off x="7372350" y="2257425"/>
            <a:ext cx="16859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~412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696920-6122-4C13-86DE-AB76A95AF8F1}"/>
              </a:ext>
            </a:extLst>
          </p:cNvPr>
          <p:cNvSpPr>
            <a:spLocks noGrp="1"/>
          </p:cNvSpPr>
          <p:nvPr/>
        </p:nvSpPr>
        <p:spPr>
          <a:xfrm>
            <a:off x="7353300" y="2647950"/>
            <a:ext cx="17240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Visits / month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CE35B-775E-4463-82F6-BE982E4B113A}"/>
              </a:ext>
            </a:extLst>
          </p:cNvPr>
          <p:cNvSpPr>
            <a:spLocks noGrp="1"/>
          </p:cNvSpPr>
          <p:nvPr/>
        </p:nvSpPr>
        <p:spPr>
          <a:xfrm>
            <a:off x="7353300" y="2971800"/>
            <a:ext cx="17240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Three-month average baseline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54B180-30C5-4901-A086-2756DEE7AD10}"/>
              </a:ext>
            </a:extLst>
          </p:cNvPr>
          <p:cNvSpPr>
            <a:spLocks noGrp="1"/>
          </p:cNvSpPr>
          <p:nvPr/>
        </p:nvSpPr>
        <p:spPr>
          <a:xfrm>
            <a:off x="9382125" y="2143125"/>
            <a:ext cx="1952625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263EC-EAD6-4AF8-9090-D1F19BFFE93F}"/>
              </a:ext>
            </a:extLst>
          </p:cNvPr>
          <p:cNvSpPr>
            <a:spLocks noGrp="1"/>
          </p:cNvSpPr>
          <p:nvPr/>
        </p:nvSpPr>
        <p:spPr>
          <a:xfrm>
            <a:off x="9515475" y="2257425"/>
            <a:ext cx="16859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62.81m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A867FC-3CF7-4CC7-9BF8-34ACDB876429}"/>
              </a:ext>
            </a:extLst>
          </p:cNvPr>
          <p:cNvSpPr>
            <a:spLocks noGrp="1"/>
          </p:cNvSpPr>
          <p:nvPr/>
        </p:nvSpPr>
        <p:spPr>
          <a:xfrm>
            <a:off x="9496425" y="2647950"/>
            <a:ext cx="17240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Billed / month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209230-3BAE-4F36-ACE5-4FFF5E09D484}"/>
              </a:ext>
            </a:extLst>
          </p:cNvPr>
          <p:cNvSpPr>
            <a:spLocks noGrp="1"/>
          </p:cNvSpPr>
          <p:nvPr/>
        </p:nvSpPr>
        <p:spPr>
          <a:xfrm>
            <a:off x="9496425" y="2971800"/>
            <a:ext cx="17240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Source amount units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85F27A-FE29-4307-A38E-5B628F3C72F5}"/>
              </a:ext>
            </a:extLst>
          </p:cNvPr>
          <p:cNvSpPr>
            <a:spLocks noGrp="1"/>
          </p:cNvSpPr>
          <p:nvPr/>
        </p:nvSpPr>
        <p:spPr>
          <a:xfrm>
            <a:off x="7239000" y="3571875"/>
            <a:ext cx="4095750" cy="104775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9A8E54-174D-4970-9609-939C159147F9}"/>
              </a:ext>
            </a:extLst>
          </p:cNvPr>
          <p:cNvSpPr>
            <a:spLocks noGrp="1"/>
          </p:cNvSpPr>
          <p:nvPr/>
        </p:nvSpPr>
        <p:spPr>
          <a:xfrm>
            <a:off x="7372350" y="3686175"/>
            <a:ext cx="3829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56.84m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6E3116-168E-4250-BAC5-AAA7C1459337}"/>
              </a:ext>
            </a:extLst>
          </p:cNvPr>
          <p:cNvSpPr>
            <a:spLocks noGrp="1"/>
          </p:cNvSpPr>
          <p:nvPr/>
        </p:nvSpPr>
        <p:spPr>
          <a:xfrm>
            <a:off x="7353300" y="4076700"/>
            <a:ext cx="3867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Receipts / month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15C33F-9070-46C2-86CA-95EAF6C5154C}"/>
              </a:ext>
            </a:extLst>
          </p:cNvPr>
          <p:cNvSpPr>
            <a:spLocks noGrp="1"/>
          </p:cNvSpPr>
          <p:nvPr/>
        </p:nvSpPr>
        <p:spPr>
          <a:xfrm>
            <a:off x="7353300" y="4400550"/>
            <a:ext cx="3867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Source amount units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1F0885-9CA7-4BF9-BD3C-A9064D060C06}"/>
              </a:ext>
            </a:extLst>
          </p:cNvPr>
          <p:cNvSpPr>
            <a:spLocks noGrp="1"/>
          </p:cNvSpPr>
          <p:nvPr/>
        </p:nvSpPr>
        <p:spPr>
          <a:xfrm>
            <a:off x="7239000" y="4857750"/>
            <a:ext cx="4095750" cy="819150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BE018F-B2F1-4762-89A4-A826B705CB46}"/>
              </a:ext>
            </a:extLst>
          </p:cNvPr>
          <p:cNvSpPr>
            <a:spLocks noGrp="1"/>
          </p:cNvSpPr>
          <p:nvPr/>
        </p:nvSpPr>
        <p:spPr>
          <a:xfrm>
            <a:off x="7410450" y="4933950"/>
            <a:ext cx="3752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Only 12 observed months are available. Forecasts are short-data planning baselines without reliable annual seasonality.</a:t>
            </a:r>
          </a:p>
        </p:txBody>
      </p:sp>
    </p:spTree>
    <p:extLst>
      <p:ext uri="{BB962C8B-B14F-4D97-AF65-F5344CB8AC3E}">
        <p14:creationId xmlns:p14="http://schemas.microsoft.com/office/powerpoint/2010/main" val="191817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DB5F12F-6E20-493A-B660-C66CB9FE6E63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18CF0B-649A-4701-BEA2-01419171F70D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Prediction and exploratory segments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C24268-1A7A-4F24-95EC-8B2E5595BA29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1017BC-2BF9-4680-8D74-3FBDF1DEF987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BEEAF5-0FF6-41B6-8F4D-5BA3BD8FB7D4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Dorian NJAMI  |  </a:t>
            </a:r>
            <a:r>
              <a:rPr sz="1000" b="0" dirty="0" err="1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AnalystLab</a:t>
            </a: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AB1452-A0A2-490D-9F74-4C0404B64A30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68A1D-041C-4093-943B-6EF8A278F66E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3190875" cy="106680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2BB541-842F-4969-B16A-15653A37A55D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29241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0.466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7D1EDF-E1E7-4775-B0D8-152B1354160C}"/>
              </a:ext>
            </a:extLst>
          </p:cNvPr>
          <p:cNvSpPr>
            <a:spLocks noGrp="1"/>
          </p:cNvSpPr>
          <p:nvPr/>
        </p:nvSpPr>
        <p:spPr>
          <a:xfrm>
            <a:off x="571500" y="2028825"/>
            <a:ext cx="2962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Admission ROC AUC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9D9C0-ED51-45FA-B010-1C7329ED3CCF}"/>
              </a:ext>
            </a:extLst>
          </p:cNvPr>
          <p:cNvSpPr>
            <a:spLocks noGrp="1"/>
          </p:cNvSpPr>
          <p:nvPr/>
        </p:nvSpPr>
        <p:spPr>
          <a:xfrm>
            <a:off x="571500" y="2352675"/>
            <a:ext cx="2962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Balanced accuracy: 0.468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3052A6-5AC3-435F-B2BC-A038C24D1E41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3190875" cy="106680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E525AF-3E87-40C5-8F1D-545076524C27}"/>
              </a:ext>
            </a:extLst>
          </p:cNvPr>
          <p:cNvSpPr>
            <a:spLocks noGrp="1"/>
          </p:cNvSpPr>
          <p:nvPr/>
        </p:nvSpPr>
        <p:spPr>
          <a:xfrm>
            <a:off x="590550" y="2838450"/>
            <a:ext cx="29241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0.201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6851B4-223D-4CBA-B025-44A55D7553C7}"/>
              </a:ext>
            </a:extLst>
          </p:cNvPr>
          <p:cNvSpPr>
            <a:spLocks noGrp="1"/>
          </p:cNvSpPr>
          <p:nvPr/>
        </p:nvSpPr>
        <p:spPr>
          <a:xfrm>
            <a:off x="571500" y="3228975"/>
            <a:ext cx="2962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Satisfaction balanced accuracy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681435-8493-4F1E-9180-123A7D310923}"/>
              </a:ext>
            </a:extLst>
          </p:cNvPr>
          <p:cNvSpPr>
            <a:spLocks noGrp="1"/>
          </p:cNvSpPr>
          <p:nvPr/>
        </p:nvSpPr>
        <p:spPr>
          <a:xfrm>
            <a:off x="571500" y="3552825"/>
            <a:ext cx="2962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Five rating classes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25C23F-2837-48DC-8620-E61CE243230F}"/>
              </a:ext>
            </a:extLst>
          </p:cNvPr>
          <p:cNvSpPr>
            <a:spLocks noGrp="1"/>
          </p:cNvSpPr>
          <p:nvPr/>
        </p:nvSpPr>
        <p:spPr>
          <a:xfrm>
            <a:off x="457200" y="3924300"/>
            <a:ext cx="3190875" cy="1066800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74056-16BB-4FD7-9787-66B1721BAE4D}"/>
              </a:ext>
            </a:extLst>
          </p:cNvPr>
          <p:cNvSpPr>
            <a:spLocks noGrp="1"/>
          </p:cNvSpPr>
          <p:nvPr/>
        </p:nvSpPr>
        <p:spPr>
          <a:xfrm>
            <a:off x="590550" y="4038600"/>
            <a:ext cx="29241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0.411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8074E3-003E-4234-B73E-07B9CC037250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2962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Patient clustering silhouette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F54BA0-0402-42CE-AF69-6646E9F4CD4E}"/>
              </a:ext>
            </a:extLst>
          </p:cNvPr>
          <p:cNvSpPr>
            <a:spLocks noGrp="1"/>
          </p:cNvSpPr>
          <p:nvPr/>
        </p:nvSpPr>
        <p:spPr>
          <a:xfrm>
            <a:off x="571500" y="4752975"/>
            <a:ext cx="2962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ct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Three clusters selected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09B3ED-6069-4EB0-B9DB-F88BAD57F85E}"/>
              </a:ext>
            </a:extLst>
          </p:cNvPr>
          <p:cNvSpPr>
            <a:spLocks noGrp="1"/>
          </p:cNvSpPr>
          <p:nvPr/>
        </p:nvSpPr>
        <p:spPr>
          <a:xfrm>
            <a:off x="457200" y="5162550"/>
            <a:ext cx="319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Both classifiers performed poorly on held-out data and are not ready for operational decisions. Admission precision was 0.101.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C7D829C-AFFD-4157-BC3B-7A719D3AF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7633" y="1476375"/>
            <a:ext cx="5989484" cy="40957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9586259-358D-4ABB-B67A-7195178BEC76}"/>
              </a:ext>
            </a:extLst>
          </p:cNvPr>
          <p:cNvSpPr>
            <a:spLocks noGrp="1"/>
          </p:cNvSpPr>
          <p:nvPr/>
        </p:nvSpPr>
        <p:spPr>
          <a:xfrm>
            <a:off x="457200" y="5857875"/>
            <a:ext cx="10572750" cy="428625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AA353A-4EC4-448F-B24D-D08A9748F7A7}"/>
              </a:ext>
            </a:extLst>
          </p:cNvPr>
          <p:cNvSpPr>
            <a:spLocks noGrp="1"/>
          </p:cNvSpPr>
          <p:nvPr/>
        </p:nvSpPr>
        <p:spPr>
          <a:xfrm>
            <a:off x="628650" y="5934075"/>
            <a:ext cx="10229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Clusters support descriptive follow-up only. Do not use them to triage or label individual patients.</a:t>
            </a:r>
          </a:p>
        </p:txBody>
      </p:sp>
    </p:spTree>
    <p:extLst>
      <p:ext uri="{BB962C8B-B14F-4D97-AF65-F5344CB8AC3E}">
        <p14:creationId xmlns:p14="http://schemas.microsoft.com/office/powerpoint/2010/main" val="1592971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DA60A0B-2CDA-4AF4-9F38-AE1E1658D02F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9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HEALTHCONNECT RWANDA | WEEK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20E624-6F0F-4A0E-8651-CB3BAB632E8E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2550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Management priorities and 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0326FB-6A97-49CC-B334-5CA62CDD80F2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28575"/>
          </a:xfrm>
          <a:prstGeom prst="rect">
            <a:avLst/>
          </a:prstGeom>
          <a:solidFill>
            <a:srgbClr val="2747A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29F3CA-6CA9-40EC-BD8E-7AF8F63BA965}"/>
              </a:ext>
            </a:extLst>
          </p:cNvPr>
          <p:cNvSpPr>
            <a:spLocks noGrp="1"/>
          </p:cNvSpPr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D6DC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B27DA-488E-47BE-9586-601842DD9731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825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Dorian NJAMI  |  </a:t>
            </a:r>
            <a:r>
              <a:rPr sz="1000" b="0" dirty="0" err="1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AnalystLab</a:t>
            </a:r>
            <a:r>
              <a:rPr sz="1000" b="0" dirty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 Africa Data Science Internship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16A20E-D0BD-4B30-89FD-C2A3299C3FF4}"/>
              </a:ext>
            </a:extLst>
          </p:cNvPr>
          <p:cNvSpPr>
            <a:spLocks noGrp="1"/>
          </p:cNvSpPr>
          <p:nvPr/>
        </p:nvSpPr>
        <p:spPr>
          <a:xfrm>
            <a:off x="11382375" y="6477000"/>
            <a:ext cx="352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defPPr>
            <a:lvl1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1pPr>
            <a:lvl2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2pPr>
            <a:lvl3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3pPr>
            <a:lvl4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4pPr>
            <a:lvl5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5pPr>
            <a:lvl6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6pPr>
            <a:lvl7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7pPr>
            <a:lvl8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8pPr>
            <a:lvl9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r">
              <a:def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defRPr>
            </a:pPr>
            <a:r>
              <a:rPr sz="900" b="0">
                <a:solidFill>
                  <a:srgbClr val="59636E"/>
                </a:solidFill>
                <a:latin typeface="Source Sans 3"/>
                <a:ea typeface="Source Sans 3"/>
                <a:cs typeface="Source Sans 3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452582-FB09-4638-B120-E6FB0F501EE6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5219700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85C56E-FB54-4AE6-9AD2-C25324489378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1CA47C-DEF8-441F-B484-262D198D3637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Reconcile location identifiers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D7998-0FAD-4BB6-BF49-DB5EC605E30E}"/>
              </a:ext>
            </a:extLst>
          </p:cNvPr>
          <p:cNvSpPr>
            <a:spLocks noGrp="1"/>
          </p:cNvSpPr>
          <p:nvPr/>
        </p:nvSpPr>
        <p:spPr>
          <a:xfrm>
            <a:off x="1123950" y="19240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Assign mapping owners and publish an approved DepartmentID-to-FacilityID reference.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E41644-F4AE-4817-880B-632488923A29}"/>
              </a:ext>
            </a:extLst>
          </p:cNvPr>
          <p:cNvSpPr>
            <a:spLocks noGrp="1"/>
          </p:cNvSpPr>
          <p:nvPr/>
        </p:nvSpPr>
        <p:spPr>
          <a:xfrm>
            <a:off x="6076950" y="1428750"/>
            <a:ext cx="5219700" cy="1190625"/>
          </a:xfrm>
          <a:prstGeom prst="rect">
            <a:avLst/>
          </a:prstGeom>
          <a:solidFill>
            <a:srgbClr val="EAF2F4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0FB7A-9C6A-4325-8726-A0C4D7F739CA}"/>
              </a:ext>
            </a:extLst>
          </p:cNvPr>
          <p:cNvSpPr>
            <a:spLocks noGrp="1"/>
          </p:cNvSpPr>
          <p:nvPr/>
        </p:nvSpPr>
        <p:spPr>
          <a:xfrm>
            <a:off x="6229350" y="156210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FB7C49-34D3-4996-BD5E-B046DA46FDF5}"/>
              </a:ext>
            </a:extLst>
          </p:cNvPr>
          <p:cNvSpPr>
            <a:spLocks noGrp="1"/>
          </p:cNvSpPr>
          <p:nvPr/>
        </p:nvSpPr>
        <p:spPr>
          <a:xfrm>
            <a:off x="6743700" y="15621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Align invoices and payments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A0D9E8-F925-4A93-A18D-DA18FAA81225}"/>
              </a:ext>
            </a:extLst>
          </p:cNvPr>
          <p:cNvSpPr>
            <a:spLocks noGrp="1"/>
          </p:cNvSpPr>
          <p:nvPr/>
        </p:nvSpPr>
        <p:spPr>
          <a:xfrm>
            <a:off x="6743700" y="19240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Define bill status rules and reconcile amount, payments, claims, and balance.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966D8C-9770-4BA6-9CF8-6925EDA71524}"/>
              </a:ext>
            </a:extLst>
          </p:cNvPr>
          <p:cNvSpPr>
            <a:spLocks noGrp="1"/>
          </p:cNvSpPr>
          <p:nvPr/>
        </p:nvSpPr>
        <p:spPr>
          <a:xfrm>
            <a:off x="457200" y="2857500"/>
            <a:ext cx="5219700" cy="1190625"/>
          </a:xfrm>
          <a:prstGeom prst="rect">
            <a:avLst/>
          </a:prstGeom>
          <a:solidFill>
            <a:srgbClr val="F5F7F9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A4397E-50B7-4AB4-9D43-6933995742A4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017418-F3EE-4041-B7A2-625113241B8A}"/>
              </a:ext>
            </a:extLst>
          </p:cNvPr>
          <p:cNvSpPr>
            <a:spLocks noGrp="1"/>
          </p:cNvSpPr>
          <p:nvPr/>
        </p:nvSpPr>
        <p:spPr>
          <a:xfrm>
            <a:off x="1123950" y="2990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Improve source capture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183A9D-C807-4DBE-B567-28C0A02F2186}"/>
              </a:ext>
            </a:extLst>
          </p:cNvPr>
          <p:cNvSpPr>
            <a:spLocks noGrp="1"/>
          </p:cNvSpPr>
          <p:nvPr/>
        </p:nvSpPr>
        <p:spPr>
          <a:xfrm>
            <a:off x="1123950" y="33528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Record currency, event dates, unknown clinical history, and source lineage.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3A6AAE-FA10-405D-BA70-EE47D38D5D20}"/>
              </a:ext>
            </a:extLst>
          </p:cNvPr>
          <p:cNvSpPr>
            <a:spLocks noGrp="1"/>
          </p:cNvSpPr>
          <p:nvPr/>
        </p:nvSpPr>
        <p:spPr>
          <a:xfrm>
            <a:off x="6076950" y="2857500"/>
            <a:ext cx="5219700" cy="1190625"/>
          </a:xfrm>
          <a:prstGeom prst="rect">
            <a:avLst/>
          </a:prstGeom>
          <a:solidFill>
            <a:srgbClr val="F5F7F9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538A31-6522-4464-B7CB-D5B8D58E51F1}"/>
              </a:ext>
            </a:extLst>
          </p:cNvPr>
          <p:cNvSpPr>
            <a:spLocks noGrp="1"/>
          </p:cNvSpPr>
          <p:nvPr/>
        </p:nvSpPr>
        <p:spPr>
          <a:xfrm>
            <a:off x="6229350" y="299085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6E3660-21A9-4E47-81B2-8FE044728708}"/>
              </a:ext>
            </a:extLst>
          </p:cNvPr>
          <p:cNvSpPr>
            <a:spLocks noGrp="1"/>
          </p:cNvSpPr>
          <p:nvPr/>
        </p:nvSpPr>
        <p:spPr>
          <a:xfrm>
            <a:off x="6743700" y="2990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Measure real capacity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607CF2-59CD-44B1-AB6C-1200F9C53F82}"/>
              </a:ext>
            </a:extLst>
          </p:cNvPr>
          <p:cNvSpPr>
            <a:spLocks noGrp="1"/>
          </p:cNvSpPr>
          <p:nvPr/>
        </p:nvSpPr>
        <p:spPr>
          <a:xfrm>
            <a:off x="6743700" y="33528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Add time-stamped staff assignments, bed occupancy, and equipment availability.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4C7796-82F2-4CBB-8795-777DC2D3E849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5219700" cy="1190625"/>
          </a:xfrm>
          <a:prstGeom prst="rect">
            <a:avLst/>
          </a:prstGeom>
          <a:solidFill>
            <a:srgbClr val="F5F7F9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15FAAF-642F-4204-B6C3-4D7EB3474525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4384CF-5953-48D3-9E41-482E0A2744E3}"/>
              </a:ext>
            </a:extLst>
          </p:cNvPr>
          <p:cNvSpPr>
            <a:spLocks noGrp="1"/>
          </p:cNvSpPr>
          <p:nvPr/>
        </p:nvSpPr>
        <p:spPr>
          <a:xfrm>
            <a:off x="1123950" y="44196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Strengthen patient feedback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191FFA-B1A3-43EE-A17F-ACA377BBDE6B}"/>
              </a:ext>
            </a:extLst>
          </p:cNvPr>
          <p:cNvSpPr>
            <a:spLocks noGrp="1"/>
          </p:cNvSpPr>
          <p:nvPr/>
        </p:nvSpPr>
        <p:spPr>
          <a:xfrm>
            <a:off x="1123950" y="47815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Review rating themes with response coverage by department and facility.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04F0B5-5EB4-4153-B1DF-3979C3A46020}"/>
              </a:ext>
            </a:extLst>
          </p:cNvPr>
          <p:cNvSpPr>
            <a:spLocks noGrp="1"/>
          </p:cNvSpPr>
          <p:nvPr/>
        </p:nvSpPr>
        <p:spPr>
          <a:xfrm>
            <a:off x="6076950" y="4286250"/>
            <a:ext cx="5219700" cy="1190625"/>
          </a:xfrm>
          <a:prstGeom prst="rect">
            <a:avLst/>
          </a:prstGeom>
          <a:solidFill>
            <a:srgbClr val="F5F7F9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5F4A8F-E8C4-41D0-B43D-B210E11C5B09}"/>
              </a:ext>
            </a:extLst>
          </p:cNvPr>
          <p:cNvSpPr>
            <a:spLocks noGrp="1"/>
          </p:cNvSpPr>
          <p:nvPr/>
        </p:nvSpPr>
        <p:spPr>
          <a:xfrm>
            <a:off x="6229350" y="441960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06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EB4AC7-2A55-4780-8FFE-DC43FB30A9BC}"/>
              </a:ext>
            </a:extLst>
          </p:cNvPr>
          <p:cNvSpPr>
            <a:spLocks noGrp="1"/>
          </p:cNvSpPr>
          <p:nvPr/>
        </p:nvSpPr>
        <p:spPr>
          <a:xfrm>
            <a:off x="6743700" y="44196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747A5"/>
                </a:solidFill>
                <a:latin typeface="Source Sans 3"/>
                <a:ea typeface="Source Sans 3"/>
                <a:cs typeface="Source Sans 3"/>
              </a:rPr>
              <a:t>Build modeling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EC2578-5906-43AA-9902-2E2FB5B0FDF2}"/>
              </a:ext>
            </a:extLst>
          </p:cNvPr>
          <p:cNvSpPr>
            <a:spLocks noGrp="1"/>
          </p:cNvSpPr>
          <p:nvPr/>
        </p:nvSpPr>
        <p:spPr>
          <a:xfrm>
            <a:off x="6743700" y="47815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0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Extend the history and validate against temporal holdouts before deployment.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ABD289-EBB1-46DF-B38E-73F5672C8CF1}"/>
              </a:ext>
            </a:extLst>
          </p:cNvPr>
          <p:cNvSpPr>
            <a:spLocks noGrp="1"/>
          </p:cNvSpPr>
          <p:nvPr/>
        </p:nvSpPr>
        <p:spPr>
          <a:xfrm>
            <a:off x="457200" y="5905500"/>
            <a:ext cx="10810875" cy="428625"/>
          </a:xfrm>
          <a:prstGeom prst="rect">
            <a:avLst/>
          </a:prstGeom>
          <a:solidFill>
            <a:srgbClr val="EAF2F4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C30779-8690-4249-B62C-C87A8E85128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467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defPPr>
            <a:lvl1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1pPr>
            <a:lvl2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2pPr>
            <a:lvl3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3pPr>
            <a:lvl4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4pPr>
            <a:lvl5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5pPr>
            <a:lvl6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6pPr>
            <a:lvl7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7pPr>
            <a:lvl8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8pPr>
            <a:lvl9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lvl9pPr>
          </a:lstStyle>
          <a:p>
            <a:pPr algn="l">
              <a:def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52B2B"/>
                </a:solidFill>
                <a:latin typeface="Source Sans 3"/>
                <a:ea typeface="Source Sans 3"/>
                <a:cs typeface="Source Sans 3"/>
              </a:rPr>
              <a:t>First milestone: a governed, reconciled dataset with clear owners for each operational and financial metric.</a:t>
            </a:r>
          </a:p>
        </p:txBody>
      </p:sp>
    </p:spTree>
    <p:extLst>
      <p:ext uri="{BB962C8B-B14F-4D97-AF65-F5344CB8AC3E}">
        <p14:creationId xmlns:p14="http://schemas.microsoft.com/office/powerpoint/2010/main" val="14761336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1202</Words>
  <Application>Microsoft Office PowerPoint</Application>
  <DocSecurity>0</DocSecurity>
  <PresentationFormat>Widescreen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Poppins</vt:lpstr>
      <vt:lpstr>Source Sans 3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Dorian NJAMI</cp:lastModifiedBy>
  <cp:revision>6</cp:revision>
  <dcterms:created xsi:type="dcterms:W3CDTF">2026-10-25T19:19:14Z</dcterms:created>
  <dcterms:modified xsi:type="dcterms:W3CDTF">2026-10-25T19:37:12Z</dcterms:modified>
</cp:coreProperties>
</file>